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Maven Pro"/>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2C7AFD-E84E-49E9-973D-BCEBA41F2901}">
  <a:tblStyle styleId="{DE2C7AFD-E84E-49E9-973D-BCEBA41F290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10" Type="http://schemas.openxmlformats.org/officeDocument/2006/relationships/slide" Target="slides/slide3.xml"/><Relationship Id="rId21" Type="http://schemas.openxmlformats.org/officeDocument/2006/relationships/font" Target="fonts/MavenPro-bold.fntdata"/><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bc2c0fe46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abc2c0fe46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bc2c0fe46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abc2c0fe46_1_1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bc2c0fe46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abc2c0fe46_1_1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bc07aa57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abc07aa57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bc2c0fe46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abc2c0fe46_1_1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bc2c0fe46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abc2c0fe46_1_1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bc2c0fe46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abc2c0fe46_1_1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bc2c0fe46_1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abc2c0fe46_1_1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bc07aa57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abc07aa57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bc07aa57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abc07aa574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bc2c0fe46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abc2c0fe46_1_1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bc07aa57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abc07aa574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bc2c0fe46_1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abc2c0fe46_1_2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11" Type="http://schemas.openxmlformats.org/officeDocument/2006/relationships/image" Target="../media/image22.png"/><Relationship Id="rId10" Type="http://schemas.openxmlformats.org/officeDocument/2006/relationships/image" Target="../media/image4.jpg"/><Relationship Id="rId9"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20.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20.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8.png"/><Relationship Id="rId7"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28" name="Shape 128"/>
        <p:cNvGrpSpPr/>
        <p:nvPr/>
      </p:nvGrpSpPr>
      <p:grpSpPr>
        <a:xfrm>
          <a:off x="0" y="0"/>
          <a:ext cx="0" cy="0"/>
          <a:chOff x="0" y="0"/>
          <a:chExt cx="0" cy="0"/>
        </a:xfrm>
      </p:grpSpPr>
      <p:sp>
        <p:nvSpPr>
          <p:cNvPr id="129" name="Google Shape;129;p25"/>
          <p:cNvSpPr txBox="1"/>
          <p:nvPr/>
        </p:nvSpPr>
        <p:spPr>
          <a:xfrm>
            <a:off x="1293910" y="897351"/>
            <a:ext cx="6556200" cy="898800"/>
          </a:xfrm>
          <a:prstGeom prst="rect">
            <a:avLst/>
          </a:prstGeom>
          <a:noFill/>
          <a:ln>
            <a:noFill/>
          </a:ln>
        </p:spPr>
        <p:txBody>
          <a:bodyPr anchorCtr="0" anchor="t" bIns="0" lIns="0" spcFirstLastPara="1" rIns="0" wrap="square" tIns="0">
            <a:spAutoFit/>
          </a:bodyPr>
          <a:lstStyle/>
          <a:p>
            <a:pPr indent="0" lvl="0" marL="0" marR="0" rtl="0" algn="ctr">
              <a:lnSpc>
                <a:spcPct val="79995"/>
              </a:lnSpc>
              <a:spcBef>
                <a:spcPts val="0"/>
              </a:spcBef>
              <a:spcAft>
                <a:spcPts val="0"/>
              </a:spcAft>
              <a:buNone/>
            </a:pPr>
            <a:r>
              <a:rPr b="1" lang="en-GB" sz="7300">
                <a:solidFill>
                  <a:srgbClr val="252930"/>
                </a:solidFill>
                <a:latin typeface="Maven Pro"/>
                <a:ea typeface="Maven Pro"/>
                <a:cs typeface="Maven Pro"/>
                <a:sym typeface="Maven Pro"/>
              </a:rPr>
              <a:t>GraphIQ</a:t>
            </a:r>
            <a:endParaRPr sz="700"/>
          </a:p>
        </p:txBody>
      </p:sp>
      <p:sp>
        <p:nvSpPr>
          <p:cNvPr id="130" name="Google Shape;130;p25"/>
          <p:cNvSpPr/>
          <p:nvPr/>
        </p:nvSpPr>
        <p:spPr>
          <a:xfrm flipH="1">
            <a:off x="-105975" y="-52387"/>
            <a:ext cx="2057400" cy="20574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sp>
      <p:sp>
        <p:nvSpPr>
          <p:cNvPr id="131" name="Google Shape;131;p25"/>
          <p:cNvSpPr/>
          <p:nvPr/>
        </p:nvSpPr>
        <p:spPr>
          <a:xfrm flipH="1" rot="10800000">
            <a:off x="7148513" y="3148013"/>
            <a:ext cx="2057400" cy="2057400"/>
          </a:xfrm>
          <a:custGeom>
            <a:rect b="b" l="l" r="r" t="t"/>
            <a:pathLst>
              <a:path extrusionOk="0" h="4114800" w="4114800">
                <a:moveTo>
                  <a:pt x="0" y="4114800"/>
                </a:moveTo>
                <a:lnTo>
                  <a:pt x="4114800" y="4114800"/>
                </a:lnTo>
                <a:lnTo>
                  <a:pt x="4114800" y="0"/>
                </a:lnTo>
                <a:lnTo>
                  <a:pt x="0" y="0"/>
                </a:lnTo>
                <a:lnTo>
                  <a:pt x="0" y="4114800"/>
                </a:lnTo>
                <a:close/>
              </a:path>
            </a:pathLst>
          </a:custGeom>
          <a:blipFill rotWithShape="1">
            <a:blip r:embed="rId3">
              <a:alphaModFix/>
            </a:blip>
            <a:stretch>
              <a:fillRect b="0" l="0" r="0" t="0"/>
            </a:stretch>
          </a:blipFill>
          <a:ln>
            <a:noFill/>
          </a:ln>
        </p:spPr>
      </p:sp>
      <p:sp>
        <p:nvSpPr>
          <p:cNvPr id="132" name="Google Shape;132;p25"/>
          <p:cNvSpPr/>
          <p:nvPr/>
        </p:nvSpPr>
        <p:spPr>
          <a:xfrm>
            <a:off x="0" y="4019542"/>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sp>
      <p:sp>
        <p:nvSpPr>
          <p:cNvPr id="133" name="Google Shape;133;p25"/>
          <p:cNvSpPr/>
          <p:nvPr/>
        </p:nvSpPr>
        <p:spPr>
          <a:xfrm>
            <a:off x="8828774" y="14696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sp>
      <p:sp>
        <p:nvSpPr>
          <p:cNvPr id="134" name="Google Shape;134;p25"/>
          <p:cNvSpPr/>
          <p:nvPr/>
        </p:nvSpPr>
        <p:spPr>
          <a:xfrm>
            <a:off x="514350" y="4538654"/>
            <a:ext cx="1358159" cy="67907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sp>
      <p:sp>
        <p:nvSpPr>
          <p:cNvPr id="135" name="Google Shape;135;p25"/>
          <p:cNvSpPr txBox="1"/>
          <p:nvPr/>
        </p:nvSpPr>
        <p:spPr>
          <a:xfrm>
            <a:off x="1951434" y="2059123"/>
            <a:ext cx="5432400" cy="29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GB" sz="1900" u="none" cap="none" strike="noStrike">
                <a:solidFill>
                  <a:srgbClr val="252930"/>
                </a:solidFill>
                <a:latin typeface="Maven Pro"/>
                <a:ea typeface="Maven Pro"/>
                <a:cs typeface="Maven Pro"/>
                <a:sym typeface="Maven Pro"/>
              </a:rPr>
              <a:t>Presented by</a:t>
            </a:r>
            <a:endParaRPr sz="700"/>
          </a:p>
        </p:txBody>
      </p:sp>
      <p:sp>
        <p:nvSpPr>
          <p:cNvPr id="136" name="Google Shape;136;p25"/>
          <p:cNvSpPr/>
          <p:nvPr/>
        </p:nvSpPr>
        <p:spPr>
          <a:xfrm flipH="1" rot="10800000">
            <a:off x="7271491" y="-52387"/>
            <a:ext cx="1358159" cy="679080"/>
          </a:xfrm>
          <a:custGeom>
            <a:rect b="b" l="l" r="r" t="t"/>
            <a:pathLst>
              <a:path extrusionOk="0" h="1358159" w="2716317">
                <a:moveTo>
                  <a:pt x="0" y="1358159"/>
                </a:moveTo>
                <a:lnTo>
                  <a:pt x="2716317" y="1358159"/>
                </a:lnTo>
                <a:lnTo>
                  <a:pt x="2716317" y="0"/>
                </a:lnTo>
                <a:lnTo>
                  <a:pt x="0" y="0"/>
                </a:lnTo>
                <a:lnTo>
                  <a:pt x="0" y="1358159"/>
                </a:lnTo>
                <a:close/>
              </a:path>
            </a:pathLst>
          </a:custGeom>
          <a:blipFill rotWithShape="1">
            <a:blip r:embed="rId5">
              <a:alphaModFix/>
            </a:blip>
            <a:stretch>
              <a:fillRect b="0" l="0" r="0" t="0"/>
            </a:stretch>
          </a:blipFill>
          <a:ln>
            <a:noFill/>
          </a:ln>
        </p:spPr>
      </p:sp>
      <p:graphicFrame>
        <p:nvGraphicFramePr>
          <p:cNvPr id="137" name="Google Shape;137;p25"/>
          <p:cNvGraphicFramePr/>
          <p:nvPr/>
        </p:nvGraphicFramePr>
        <p:xfrm>
          <a:off x="1585725" y="2467856"/>
          <a:ext cx="3000000" cy="3000000"/>
        </p:xfrm>
        <a:graphic>
          <a:graphicData uri="http://schemas.openxmlformats.org/drawingml/2006/table">
            <a:tbl>
              <a:tblPr>
                <a:noFill/>
                <a:tableStyleId>{DE2C7AFD-E84E-49E9-973D-BCEBA41F2901}</a:tableStyleId>
              </a:tblPr>
              <a:tblGrid>
                <a:gridCol w="3081900"/>
                <a:gridCol w="3081900"/>
              </a:tblGrid>
              <a:tr h="358100">
                <a:tc>
                  <a:txBody>
                    <a:bodyPr/>
                    <a:lstStyle/>
                    <a:p>
                      <a:pPr indent="0" lvl="0" marL="0" rtl="0" algn="ctr">
                        <a:spcBef>
                          <a:spcPts val="0"/>
                        </a:spcBef>
                        <a:spcAft>
                          <a:spcPts val="0"/>
                        </a:spcAft>
                        <a:buNone/>
                      </a:pPr>
                      <a:r>
                        <a:rPr lang="en-GB" sz="1900">
                          <a:latin typeface="Maven Pro"/>
                          <a:ea typeface="Maven Pro"/>
                          <a:cs typeface="Maven Pro"/>
                          <a:sym typeface="Maven Pro"/>
                        </a:rPr>
                        <a:t>Name</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Maven Pro"/>
                          <a:ea typeface="Maven Pro"/>
                          <a:cs typeface="Maven Pro"/>
                          <a:sym typeface="Maven Pro"/>
                        </a:rPr>
                        <a:t>S.R.</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58100">
                <a:tc>
                  <a:txBody>
                    <a:bodyPr/>
                    <a:lstStyle/>
                    <a:p>
                      <a:pPr indent="0" lvl="0" marL="0" rtl="0" algn="ctr">
                        <a:spcBef>
                          <a:spcPts val="0"/>
                        </a:spcBef>
                        <a:spcAft>
                          <a:spcPts val="0"/>
                        </a:spcAft>
                        <a:buNone/>
                      </a:pPr>
                      <a:r>
                        <a:rPr lang="en-GB" sz="1900">
                          <a:latin typeface="Maven Pro"/>
                          <a:ea typeface="Maven Pro"/>
                          <a:cs typeface="Maven Pro"/>
                          <a:sym typeface="Maven Pro"/>
                        </a:rPr>
                        <a:t>Rishabh Indoria</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tcPr>
                </a:tc>
                <a:tc>
                  <a:txBody>
                    <a:bodyPr/>
                    <a:lstStyle/>
                    <a:p>
                      <a:pPr indent="0" lvl="0" marL="0" rtl="0" algn="ctr">
                        <a:spcBef>
                          <a:spcPts val="0"/>
                        </a:spcBef>
                        <a:spcAft>
                          <a:spcPts val="0"/>
                        </a:spcAft>
                        <a:buNone/>
                      </a:pPr>
                      <a:r>
                        <a:rPr lang="en-GB" sz="1900">
                          <a:latin typeface="Maven Pro"/>
                          <a:ea typeface="Maven Pro"/>
                          <a:cs typeface="Maven Pro"/>
                          <a:sym typeface="Maven Pro"/>
                        </a:rPr>
                        <a:t>24002</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tcPr>
                </a:tc>
              </a:tr>
              <a:tr h="358100">
                <a:tc>
                  <a:txBody>
                    <a:bodyPr/>
                    <a:lstStyle/>
                    <a:p>
                      <a:pPr indent="0" lvl="0" marL="0" rtl="0" algn="ctr">
                        <a:spcBef>
                          <a:spcPts val="0"/>
                        </a:spcBef>
                        <a:spcAft>
                          <a:spcPts val="0"/>
                        </a:spcAft>
                        <a:buNone/>
                      </a:pPr>
                      <a:r>
                        <a:rPr lang="en-GB" sz="1900">
                          <a:latin typeface="Maven Pro"/>
                          <a:ea typeface="Maven Pro"/>
                          <a:cs typeface="Maven Pro"/>
                          <a:sym typeface="Maven Pro"/>
                        </a:rPr>
                        <a:t>Kirtan Vora Jatin</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tcPr>
                </a:tc>
                <a:tc>
                  <a:txBody>
                    <a:bodyPr/>
                    <a:lstStyle/>
                    <a:p>
                      <a:pPr indent="0" lvl="0" marL="0" rtl="0" algn="ctr">
                        <a:spcBef>
                          <a:spcPts val="0"/>
                        </a:spcBef>
                        <a:spcAft>
                          <a:spcPts val="0"/>
                        </a:spcAft>
                        <a:buNone/>
                      </a:pPr>
                      <a:r>
                        <a:rPr lang="en-GB" sz="1900">
                          <a:latin typeface="Maven Pro"/>
                          <a:ea typeface="Maven Pro"/>
                          <a:cs typeface="Maven Pro"/>
                          <a:sym typeface="Maven Pro"/>
                        </a:rPr>
                        <a:t>24573</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tcPr>
                </a:tc>
              </a:tr>
              <a:tr h="358100">
                <a:tc>
                  <a:txBody>
                    <a:bodyPr/>
                    <a:lstStyle/>
                    <a:p>
                      <a:pPr indent="0" lvl="0" marL="0" rtl="0" algn="ctr">
                        <a:spcBef>
                          <a:spcPts val="0"/>
                        </a:spcBef>
                        <a:spcAft>
                          <a:spcPts val="0"/>
                        </a:spcAft>
                        <a:buNone/>
                      </a:pPr>
                      <a:r>
                        <a:rPr lang="en-GB" sz="1900">
                          <a:latin typeface="Maven Pro"/>
                          <a:ea typeface="Maven Pro"/>
                          <a:cs typeface="Maven Pro"/>
                          <a:sym typeface="Maven Pro"/>
                        </a:rPr>
                        <a:t>Amrit Lal</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tcPr>
                </a:tc>
                <a:tc>
                  <a:txBody>
                    <a:bodyPr/>
                    <a:lstStyle/>
                    <a:p>
                      <a:pPr indent="0" lvl="0" marL="0" rtl="0" algn="ctr">
                        <a:spcBef>
                          <a:spcPts val="0"/>
                        </a:spcBef>
                        <a:spcAft>
                          <a:spcPts val="0"/>
                        </a:spcAft>
                        <a:buNone/>
                      </a:pPr>
                      <a:r>
                        <a:rPr lang="en-GB" sz="1900">
                          <a:latin typeface="Maven Pro"/>
                          <a:ea typeface="Maven Pro"/>
                          <a:cs typeface="Maven Pro"/>
                          <a:sym typeface="Maven Pro"/>
                        </a:rPr>
                        <a:t>24608</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tcPr>
                </a:tc>
              </a:tr>
              <a:tr h="358100">
                <a:tc>
                  <a:txBody>
                    <a:bodyPr/>
                    <a:lstStyle/>
                    <a:p>
                      <a:pPr indent="0" lvl="0" marL="0" rtl="0" algn="ctr">
                        <a:spcBef>
                          <a:spcPts val="0"/>
                        </a:spcBef>
                        <a:spcAft>
                          <a:spcPts val="0"/>
                        </a:spcAft>
                        <a:buNone/>
                      </a:pPr>
                      <a:r>
                        <a:rPr lang="en-GB" sz="1900">
                          <a:latin typeface="Maven Pro"/>
                          <a:ea typeface="Maven Pro"/>
                          <a:cs typeface="Maven Pro"/>
                          <a:sym typeface="Maven Pro"/>
                        </a:rPr>
                        <a:t>Jitendra Verma</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Maven Pro"/>
                          <a:ea typeface="Maven Pro"/>
                          <a:cs typeface="Maven Pro"/>
                          <a:sym typeface="Maven Pro"/>
                        </a:rPr>
                        <a:t>24098</a:t>
                      </a:r>
                      <a:endParaRPr sz="1900">
                        <a:latin typeface="Maven Pro"/>
                        <a:ea typeface="Maven Pro"/>
                        <a:cs typeface="Maven Pro"/>
                        <a:sym typeface="Maven Pro"/>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41" name="Shape 141"/>
        <p:cNvGrpSpPr/>
        <p:nvPr/>
      </p:nvGrpSpPr>
      <p:grpSpPr>
        <a:xfrm>
          <a:off x="0" y="0"/>
          <a:ext cx="0" cy="0"/>
          <a:chOff x="0" y="0"/>
          <a:chExt cx="0" cy="0"/>
        </a:xfrm>
      </p:grpSpPr>
      <p:sp>
        <p:nvSpPr>
          <p:cNvPr id="142" name="Google Shape;142;p26"/>
          <p:cNvSpPr txBox="1"/>
          <p:nvPr/>
        </p:nvSpPr>
        <p:spPr>
          <a:xfrm>
            <a:off x="1993983" y="810419"/>
            <a:ext cx="3459443" cy="460376"/>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i="0" lang="en-GB" sz="4000" u="none" cap="none" strike="noStrike">
                <a:solidFill>
                  <a:srgbClr val="252930"/>
                </a:solidFill>
                <a:latin typeface="Maven Pro"/>
                <a:ea typeface="Maven Pro"/>
                <a:cs typeface="Maven Pro"/>
                <a:sym typeface="Maven Pro"/>
              </a:rPr>
              <a:t>PROBLEM</a:t>
            </a:r>
            <a:endParaRPr sz="700"/>
          </a:p>
        </p:txBody>
      </p:sp>
      <p:sp>
        <p:nvSpPr>
          <p:cNvPr id="143" name="Google Shape;143;p26"/>
          <p:cNvSpPr txBox="1"/>
          <p:nvPr/>
        </p:nvSpPr>
        <p:spPr>
          <a:xfrm>
            <a:off x="1993933" y="1489450"/>
            <a:ext cx="5603400" cy="1280700"/>
          </a:xfrm>
          <a:prstGeom prst="rect">
            <a:avLst/>
          </a:prstGeom>
          <a:noFill/>
          <a:ln>
            <a:noFill/>
          </a:ln>
        </p:spPr>
        <p:txBody>
          <a:bodyPr anchorCtr="0" anchor="t" bIns="0" lIns="0" spcFirstLastPara="1" rIns="0" wrap="square" tIns="0">
            <a:spAutoFit/>
          </a:bodyPr>
          <a:lstStyle/>
          <a:p>
            <a:pPr indent="-165100" lvl="1" marL="342900" marR="0" rtl="0" algn="just">
              <a:lnSpc>
                <a:spcPct val="140000"/>
              </a:lnSpc>
              <a:spcBef>
                <a:spcPts val="0"/>
              </a:spcBef>
              <a:spcAft>
                <a:spcPts val="0"/>
              </a:spcAft>
              <a:buClr>
                <a:srgbClr val="252930"/>
              </a:buClr>
              <a:buSzPts val="1600"/>
              <a:buFont typeface="Arial"/>
              <a:buChar char="•"/>
            </a:pPr>
            <a:r>
              <a:rPr lang="en-GB" sz="1600">
                <a:solidFill>
                  <a:srgbClr val="252930"/>
                </a:solidFill>
                <a:latin typeface="Maven Pro"/>
                <a:ea typeface="Maven Pro"/>
                <a:cs typeface="Maven Pro"/>
                <a:sym typeface="Maven Pro"/>
              </a:rPr>
              <a:t>Academic content is large, unstructured, and hard to navigate, making it difficult for students to extract key concepts, relationships, and prerequisites across textbooks, PDFs, and lecture notes.</a:t>
            </a:r>
            <a:endParaRPr sz="700"/>
          </a:p>
        </p:txBody>
      </p:sp>
      <p:sp>
        <p:nvSpPr>
          <p:cNvPr id="144" name="Google Shape;144;p26"/>
          <p:cNvSpPr txBox="1"/>
          <p:nvPr/>
        </p:nvSpPr>
        <p:spPr>
          <a:xfrm>
            <a:off x="1993933" y="2897590"/>
            <a:ext cx="5603400" cy="1280700"/>
          </a:xfrm>
          <a:prstGeom prst="rect">
            <a:avLst/>
          </a:prstGeom>
          <a:noFill/>
          <a:ln>
            <a:noFill/>
          </a:ln>
        </p:spPr>
        <p:txBody>
          <a:bodyPr anchorCtr="0" anchor="t" bIns="0" lIns="0" spcFirstLastPara="1" rIns="0" wrap="square" tIns="0">
            <a:spAutoFit/>
          </a:bodyPr>
          <a:lstStyle/>
          <a:p>
            <a:pPr indent="-165100" lvl="1" marL="342900" marR="0" rtl="0" algn="just">
              <a:lnSpc>
                <a:spcPct val="140000"/>
              </a:lnSpc>
              <a:spcBef>
                <a:spcPts val="0"/>
              </a:spcBef>
              <a:spcAft>
                <a:spcPts val="0"/>
              </a:spcAft>
              <a:buClr>
                <a:srgbClr val="252930"/>
              </a:buClr>
              <a:buSzPts val="1600"/>
              <a:buFont typeface="Arial"/>
              <a:buChar char="•"/>
            </a:pPr>
            <a:r>
              <a:rPr lang="en-GB" sz="1600">
                <a:solidFill>
                  <a:srgbClr val="252930"/>
                </a:solidFill>
                <a:latin typeface="Maven Pro"/>
                <a:ea typeface="Maven Pro"/>
                <a:cs typeface="Maven Pro"/>
                <a:sym typeface="Maven Pro"/>
              </a:rPr>
              <a:t>LLMs alone hallucinate and lack grounding, while pure retrieval systems miss deeper reasoning, creating the need for a system that can understand, structure, and reason over academic material reliably.</a:t>
            </a:r>
            <a:endParaRPr sz="700"/>
          </a:p>
        </p:txBody>
      </p:sp>
      <p:sp>
        <p:nvSpPr>
          <p:cNvPr id="145" name="Google Shape;145;p26"/>
          <p:cNvSpPr/>
          <p:nvPr/>
        </p:nvSpPr>
        <p:spPr>
          <a:xfrm>
            <a:off x="0"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3">
              <a:alphaModFix/>
            </a:blip>
            <a:stretch>
              <a:fillRect b="0" l="0" r="0" t="0"/>
            </a:stretch>
          </a:blipFill>
          <a:ln>
            <a:noFill/>
          </a:ln>
        </p:spPr>
      </p:sp>
      <p:sp>
        <p:nvSpPr>
          <p:cNvPr id="146" name="Google Shape;146;p26"/>
          <p:cNvSpPr/>
          <p:nvPr/>
        </p:nvSpPr>
        <p:spPr>
          <a:xfrm>
            <a:off x="514350" y="4538654"/>
            <a:ext cx="1358159" cy="67907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4">
              <a:alphaModFix/>
            </a:blip>
            <a:stretch>
              <a:fillRect b="0" l="0" r="0" t="0"/>
            </a:stretch>
          </a:blipFill>
          <a:ln>
            <a:noFill/>
          </a:ln>
        </p:spPr>
      </p:sp>
      <p:sp>
        <p:nvSpPr>
          <p:cNvPr id="147" name="Google Shape;147;p26"/>
          <p:cNvSpPr/>
          <p:nvPr/>
        </p:nvSpPr>
        <p:spPr>
          <a:xfrm>
            <a:off x="7177088" y="-61912"/>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51" name="Shape 151"/>
        <p:cNvGrpSpPr/>
        <p:nvPr/>
      </p:nvGrpSpPr>
      <p:grpSpPr>
        <a:xfrm>
          <a:off x="0" y="0"/>
          <a:ext cx="0" cy="0"/>
          <a:chOff x="0" y="0"/>
          <a:chExt cx="0" cy="0"/>
        </a:xfrm>
      </p:grpSpPr>
      <p:sp>
        <p:nvSpPr>
          <p:cNvPr id="152" name="Google Shape;152;p27"/>
          <p:cNvSpPr txBox="1"/>
          <p:nvPr/>
        </p:nvSpPr>
        <p:spPr>
          <a:xfrm>
            <a:off x="1499813" y="1047715"/>
            <a:ext cx="6144300" cy="5541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GB" sz="4500">
                <a:solidFill>
                  <a:srgbClr val="252930"/>
                </a:solidFill>
                <a:latin typeface="Maven Pro"/>
                <a:ea typeface="Maven Pro"/>
                <a:cs typeface="Maven Pro"/>
                <a:sym typeface="Maven Pro"/>
              </a:rPr>
              <a:t>TECHNOLOGIES</a:t>
            </a:r>
            <a:endParaRPr sz="700"/>
          </a:p>
        </p:txBody>
      </p:sp>
      <p:sp>
        <p:nvSpPr>
          <p:cNvPr id="153" name="Google Shape;153;p27"/>
          <p:cNvSpPr/>
          <p:nvPr/>
        </p:nvSpPr>
        <p:spPr>
          <a:xfrm flipH="1">
            <a:off x="-105975" y="-52387"/>
            <a:ext cx="2057400" cy="20574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sp>
      <p:sp>
        <p:nvSpPr>
          <p:cNvPr id="154" name="Google Shape;154;p27"/>
          <p:cNvSpPr/>
          <p:nvPr/>
        </p:nvSpPr>
        <p:spPr>
          <a:xfrm>
            <a:off x="8886825"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sp>
      <p:sp>
        <p:nvSpPr>
          <p:cNvPr id="155" name="Google Shape;155;p27"/>
          <p:cNvSpPr/>
          <p:nvPr/>
        </p:nvSpPr>
        <p:spPr>
          <a:xfrm>
            <a:off x="7271491" y="4538654"/>
            <a:ext cx="1358159" cy="67907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sp>
      <p:pic>
        <p:nvPicPr>
          <p:cNvPr id="156" name="Google Shape;156;p27"/>
          <p:cNvPicPr preferRelativeResize="0"/>
          <p:nvPr/>
        </p:nvPicPr>
        <p:blipFill>
          <a:blip r:embed="rId6">
            <a:alphaModFix/>
          </a:blip>
          <a:stretch>
            <a:fillRect/>
          </a:stretch>
        </p:blipFill>
        <p:spPr>
          <a:xfrm>
            <a:off x="749150" y="1761300"/>
            <a:ext cx="2743550" cy="1695926"/>
          </a:xfrm>
          <a:prstGeom prst="rect">
            <a:avLst/>
          </a:prstGeom>
          <a:noFill/>
          <a:ln>
            <a:noFill/>
          </a:ln>
        </p:spPr>
      </p:pic>
      <p:pic>
        <p:nvPicPr>
          <p:cNvPr id="157" name="Google Shape;157;p27"/>
          <p:cNvPicPr preferRelativeResize="0"/>
          <p:nvPr/>
        </p:nvPicPr>
        <p:blipFill>
          <a:blip r:embed="rId7">
            <a:alphaModFix/>
          </a:blip>
          <a:stretch>
            <a:fillRect/>
          </a:stretch>
        </p:blipFill>
        <p:spPr>
          <a:xfrm>
            <a:off x="3786200" y="1761299"/>
            <a:ext cx="2671976" cy="948550"/>
          </a:xfrm>
          <a:prstGeom prst="rect">
            <a:avLst/>
          </a:prstGeom>
          <a:noFill/>
          <a:ln>
            <a:noFill/>
          </a:ln>
        </p:spPr>
      </p:pic>
      <p:pic>
        <p:nvPicPr>
          <p:cNvPr id="158" name="Google Shape;158;p27"/>
          <p:cNvPicPr preferRelativeResize="0"/>
          <p:nvPr/>
        </p:nvPicPr>
        <p:blipFill>
          <a:blip r:embed="rId8">
            <a:alphaModFix/>
          </a:blip>
          <a:stretch>
            <a:fillRect/>
          </a:stretch>
        </p:blipFill>
        <p:spPr>
          <a:xfrm>
            <a:off x="3868450" y="2647175"/>
            <a:ext cx="2632330" cy="948550"/>
          </a:xfrm>
          <a:prstGeom prst="rect">
            <a:avLst/>
          </a:prstGeom>
          <a:noFill/>
          <a:ln>
            <a:noFill/>
          </a:ln>
        </p:spPr>
      </p:pic>
      <p:pic>
        <p:nvPicPr>
          <p:cNvPr id="159" name="Google Shape;159;p27"/>
          <p:cNvPicPr preferRelativeResize="0"/>
          <p:nvPr/>
        </p:nvPicPr>
        <p:blipFill>
          <a:blip r:embed="rId9">
            <a:alphaModFix/>
          </a:blip>
          <a:stretch>
            <a:fillRect/>
          </a:stretch>
        </p:blipFill>
        <p:spPr>
          <a:xfrm>
            <a:off x="539275" y="3768725"/>
            <a:ext cx="3686999" cy="679075"/>
          </a:xfrm>
          <a:prstGeom prst="rect">
            <a:avLst/>
          </a:prstGeom>
          <a:noFill/>
          <a:ln>
            <a:noFill/>
          </a:ln>
        </p:spPr>
      </p:pic>
      <p:pic>
        <p:nvPicPr>
          <p:cNvPr id="160" name="Google Shape;160;p27"/>
          <p:cNvPicPr preferRelativeResize="0"/>
          <p:nvPr/>
        </p:nvPicPr>
        <p:blipFill>
          <a:blip r:embed="rId10">
            <a:alphaModFix/>
          </a:blip>
          <a:stretch>
            <a:fillRect/>
          </a:stretch>
        </p:blipFill>
        <p:spPr>
          <a:xfrm>
            <a:off x="4492725" y="3699975"/>
            <a:ext cx="3596826" cy="1069575"/>
          </a:xfrm>
          <a:prstGeom prst="rect">
            <a:avLst/>
          </a:prstGeom>
          <a:noFill/>
          <a:ln>
            <a:noFill/>
          </a:ln>
        </p:spPr>
      </p:pic>
      <p:pic>
        <p:nvPicPr>
          <p:cNvPr id="161" name="Google Shape;161;p27"/>
          <p:cNvPicPr preferRelativeResize="0"/>
          <p:nvPr/>
        </p:nvPicPr>
        <p:blipFill>
          <a:blip r:embed="rId11">
            <a:alphaModFix/>
          </a:blip>
          <a:stretch>
            <a:fillRect/>
          </a:stretch>
        </p:blipFill>
        <p:spPr>
          <a:xfrm>
            <a:off x="6751680" y="1754215"/>
            <a:ext cx="1945779" cy="17933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65" name="Shape 165"/>
        <p:cNvGrpSpPr/>
        <p:nvPr/>
      </p:nvGrpSpPr>
      <p:grpSpPr>
        <a:xfrm>
          <a:off x="0" y="0"/>
          <a:ext cx="0" cy="0"/>
          <a:chOff x="0" y="0"/>
          <a:chExt cx="0" cy="0"/>
        </a:xfrm>
      </p:grpSpPr>
      <p:sp>
        <p:nvSpPr>
          <p:cNvPr id="166" name="Google Shape;166;p28"/>
          <p:cNvSpPr txBox="1"/>
          <p:nvPr/>
        </p:nvSpPr>
        <p:spPr>
          <a:xfrm>
            <a:off x="856075" y="541875"/>
            <a:ext cx="6794400" cy="492600"/>
          </a:xfrm>
          <a:prstGeom prst="rect">
            <a:avLst/>
          </a:prstGeom>
          <a:noFill/>
          <a:ln>
            <a:noFill/>
          </a:ln>
        </p:spPr>
        <p:txBody>
          <a:bodyPr anchorCtr="0" anchor="t" bIns="0" lIns="0" spcFirstLastPara="1" rIns="0" wrap="square" tIns="0">
            <a:spAutoFit/>
          </a:bodyPr>
          <a:lstStyle/>
          <a:p>
            <a:pPr indent="0" lvl="0" marL="0" marR="0" rtl="0" algn="ctr">
              <a:lnSpc>
                <a:spcPct val="79995"/>
              </a:lnSpc>
              <a:spcBef>
                <a:spcPts val="0"/>
              </a:spcBef>
              <a:spcAft>
                <a:spcPts val="0"/>
              </a:spcAft>
              <a:buNone/>
            </a:pPr>
            <a:r>
              <a:rPr b="1" lang="en-GB" sz="4000">
                <a:solidFill>
                  <a:srgbClr val="252930"/>
                </a:solidFill>
                <a:latin typeface="Maven Pro"/>
                <a:ea typeface="Maven Pro"/>
                <a:cs typeface="Maven Pro"/>
                <a:sym typeface="Maven Pro"/>
              </a:rPr>
              <a:t>INGESTION &amp; ENRICHMENT</a:t>
            </a:r>
            <a:endParaRPr sz="700"/>
          </a:p>
        </p:txBody>
      </p:sp>
      <p:sp>
        <p:nvSpPr>
          <p:cNvPr id="167" name="Google Shape;167;p28"/>
          <p:cNvSpPr/>
          <p:nvPr/>
        </p:nvSpPr>
        <p:spPr>
          <a:xfrm>
            <a:off x="0"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3">
              <a:alphaModFix/>
            </a:blip>
            <a:stretch>
              <a:fillRect b="0" l="0" r="0" t="0"/>
            </a:stretch>
          </a:blipFill>
          <a:ln>
            <a:noFill/>
          </a:ln>
        </p:spPr>
      </p:sp>
      <p:sp>
        <p:nvSpPr>
          <p:cNvPr id="168" name="Google Shape;168;p28"/>
          <p:cNvSpPr/>
          <p:nvPr/>
        </p:nvSpPr>
        <p:spPr>
          <a:xfrm>
            <a:off x="514350" y="4538654"/>
            <a:ext cx="1358159" cy="67907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4">
              <a:alphaModFix/>
            </a:blip>
            <a:stretch>
              <a:fillRect b="0" l="0" r="0" t="0"/>
            </a:stretch>
          </a:blipFill>
          <a:ln>
            <a:noFill/>
          </a:ln>
        </p:spPr>
      </p:sp>
      <p:sp>
        <p:nvSpPr>
          <p:cNvPr id="169" name="Google Shape;169;p28"/>
          <p:cNvSpPr/>
          <p:nvPr/>
        </p:nvSpPr>
        <p:spPr>
          <a:xfrm>
            <a:off x="7177088" y="-61912"/>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5">
              <a:alphaModFix/>
            </a:blip>
            <a:stretch>
              <a:fillRect b="0" l="0" r="0" t="0"/>
            </a:stretch>
          </a:blipFill>
          <a:ln>
            <a:noFill/>
          </a:ln>
        </p:spPr>
      </p:sp>
      <p:pic>
        <p:nvPicPr>
          <p:cNvPr id="170" name="Google Shape;170;p28"/>
          <p:cNvPicPr preferRelativeResize="0"/>
          <p:nvPr/>
        </p:nvPicPr>
        <p:blipFill>
          <a:blip r:embed="rId6">
            <a:alphaModFix/>
          </a:blip>
          <a:stretch>
            <a:fillRect/>
          </a:stretch>
        </p:blipFill>
        <p:spPr>
          <a:xfrm>
            <a:off x="620739" y="1610931"/>
            <a:ext cx="7307407" cy="223836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74" name="Shape 174"/>
        <p:cNvGrpSpPr/>
        <p:nvPr/>
      </p:nvGrpSpPr>
      <p:grpSpPr>
        <a:xfrm>
          <a:off x="0" y="0"/>
          <a:ext cx="0" cy="0"/>
          <a:chOff x="0" y="0"/>
          <a:chExt cx="0" cy="0"/>
        </a:xfrm>
      </p:grpSpPr>
      <p:sp>
        <p:nvSpPr>
          <p:cNvPr id="175" name="Google Shape;175;p29"/>
          <p:cNvSpPr txBox="1"/>
          <p:nvPr/>
        </p:nvSpPr>
        <p:spPr>
          <a:xfrm>
            <a:off x="1738026" y="483725"/>
            <a:ext cx="6477000" cy="9852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GB" sz="4000">
                <a:solidFill>
                  <a:srgbClr val="252D37"/>
                </a:solidFill>
                <a:latin typeface="Maven Pro"/>
                <a:ea typeface="Maven Pro"/>
                <a:cs typeface="Maven Pro"/>
                <a:sym typeface="Maven Pro"/>
              </a:rPr>
              <a:t>ENTITY &amp; RELATION EXTRACTION</a:t>
            </a:r>
            <a:endParaRPr sz="700"/>
          </a:p>
        </p:txBody>
      </p:sp>
      <p:sp>
        <p:nvSpPr>
          <p:cNvPr id="176" name="Google Shape;176;p29"/>
          <p:cNvSpPr/>
          <p:nvPr/>
        </p:nvSpPr>
        <p:spPr>
          <a:xfrm flipH="1">
            <a:off x="-105975" y="-52387"/>
            <a:ext cx="2057400" cy="20574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sp>
      <p:sp>
        <p:nvSpPr>
          <p:cNvPr id="177" name="Google Shape;177;p29"/>
          <p:cNvSpPr/>
          <p:nvPr/>
        </p:nvSpPr>
        <p:spPr>
          <a:xfrm>
            <a:off x="8886825"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sp>
      <p:sp>
        <p:nvSpPr>
          <p:cNvPr id="178" name="Google Shape;178;p29"/>
          <p:cNvSpPr/>
          <p:nvPr/>
        </p:nvSpPr>
        <p:spPr>
          <a:xfrm>
            <a:off x="7271491" y="4538654"/>
            <a:ext cx="1358159" cy="67907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sp>
      <p:pic>
        <p:nvPicPr>
          <p:cNvPr id="179" name="Google Shape;179;p29"/>
          <p:cNvPicPr preferRelativeResize="0"/>
          <p:nvPr/>
        </p:nvPicPr>
        <p:blipFill>
          <a:blip r:embed="rId6">
            <a:alphaModFix/>
          </a:blip>
          <a:stretch>
            <a:fillRect/>
          </a:stretch>
        </p:blipFill>
        <p:spPr>
          <a:xfrm>
            <a:off x="421660" y="1748201"/>
            <a:ext cx="8207991" cy="2366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83" name="Shape 183"/>
        <p:cNvGrpSpPr/>
        <p:nvPr/>
      </p:nvGrpSpPr>
      <p:grpSpPr>
        <a:xfrm>
          <a:off x="0" y="0"/>
          <a:ext cx="0" cy="0"/>
          <a:chOff x="0" y="0"/>
          <a:chExt cx="0" cy="0"/>
        </a:xfrm>
      </p:grpSpPr>
      <p:sp>
        <p:nvSpPr>
          <p:cNvPr id="184" name="Google Shape;184;p30"/>
          <p:cNvSpPr txBox="1"/>
          <p:nvPr/>
        </p:nvSpPr>
        <p:spPr>
          <a:xfrm>
            <a:off x="1872509" y="809995"/>
            <a:ext cx="5220900" cy="492600"/>
          </a:xfrm>
          <a:prstGeom prst="rect">
            <a:avLst/>
          </a:prstGeom>
          <a:noFill/>
          <a:ln>
            <a:noFill/>
          </a:ln>
        </p:spPr>
        <p:txBody>
          <a:bodyPr anchorCtr="0" anchor="t" bIns="0" lIns="0" spcFirstLastPara="1" rIns="0" wrap="square" tIns="0">
            <a:spAutoFit/>
          </a:bodyPr>
          <a:lstStyle/>
          <a:p>
            <a:pPr indent="0" lvl="0" marL="0" marR="0" rtl="0" algn="ctr">
              <a:lnSpc>
                <a:spcPct val="79995"/>
              </a:lnSpc>
              <a:spcBef>
                <a:spcPts val="0"/>
              </a:spcBef>
              <a:spcAft>
                <a:spcPts val="0"/>
              </a:spcAft>
              <a:buNone/>
            </a:pPr>
            <a:r>
              <a:rPr b="1" lang="en-GB" sz="4000">
                <a:solidFill>
                  <a:srgbClr val="252930"/>
                </a:solidFill>
                <a:latin typeface="Maven Pro"/>
                <a:ea typeface="Maven Pro"/>
                <a:cs typeface="Maven Pro"/>
                <a:sym typeface="Maven Pro"/>
              </a:rPr>
              <a:t>RETRIEVAL</a:t>
            </a:r>
            <a:endParaRPr sz="700"/>
          </a:p>
        </p:txBody>
      </p:sp>
      <p:sp>
        <p:nvSpPr>
          <p:cNvPr id="185" name="Google Shape;185;p30"/>
          <p:cNvSpPr/>
          <p:nvPr/>
        </p:nvSpPr>
        <p:spPr>
          <a:xfrm>
            <a:off x="0"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3">
              <a:alphaModFix/>
            </a:blip>
            <a:stretch>
              <a:fillRect b="0" l="0" r="0" t="0"/>
            </a:stretch>
          </a:blipFill>
          <a:ln>
            <a:noFill/>
          </a:ln>
        </p:spPr>
      </p:sp>
      <p:sp>
        <p:nvSpPr>
          <p:cNvPr id="186" name="Google Shape;186;p30"/>
          <p:cNvSpPr/>
          <p:nvPr/>
        </p:nvSpPr>
        <p:spPr>
          <a:xfrm>
            <a:off x="514350" y="4538654"/>
            <a:ext cx="1358159" cy="67907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4">
              <a:alphaModFix/>
            </a:blip>
            <a:stretch>
              <a:fillRect b="0" l="0" r="0" t="0"/>
            </a:stretch>
          </a:blipFill>
          <a:ln>
            <a:noFill/>
          </a:ln>
        </p:spPr>
      </p:sp>
      <p:sp>
        <p:nvSpPr>
          <p:cNvPr id="187" name="Google Shape;187;p30"/>
          <p:cNvSpPr/>
          <p:nvPr/>
        </p:nvSpPr>
        <p:spPr>
          <a:xfrm>
            <a:off x="7177088" y="-61912"/>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5">
              <a:alphaModFix/>
            </a:blip>
            <a:stretch>
              <a:fillRect b="0" l="0" r="0" t="0"/>
            </a:stretch>
          </a:blipFill>
          <a:ln>
            <a:noFill/>
          </a:ln>
        </p:spPr>
      </p:sp>
      <p:pic>
        <p:nvPicPr>
          <p:cNvPr id="188" name="Google Shape;188;p30"/>
          <p:cNvPicPr preferRelativeResize="0"/>
          <p:nvPr/>
        </p:nvPicPr>
        <p:blipFill>
          <a:blip r:embed="rId6">
            <a:alphaModFix/>
          </a:blip>
          <a:stretch>
            <a:fillRect/>
          </a:stretch>
        </p:blipFill>
        <p:spPr>
          <a:xfrm>
            <a:off x="599461" y="1548177"/>
            <a:ext cx="7945073" cy="2612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92" name="Shape 192"/>
        <p:cNvGrpSpPr/>
        <p:nvPr/>
      </p:nvGrpSpPr>
      <p:grpSpPr>
        <a:xfrm>
          <a:off x="0" y="0"/>
          <a:ext cx="0" cy="0"/>
          <a:chOff x="0" y="0"/>
          <a:chExt cx="0" cy="0"/>
        </a:xfrm>
      </p:grpSpPr>
      <p:sp>
        <p:nvSpPr>
          <p:cNvPr id="193" name="Google Shape;193;p31"/>
          <p:cNvSpPr txBox="1"/>
          <p:nvPr/>
        </p:nvSpPr>
        <p:spPr>
          <a:xfrm>
            <a:off x="1951425" y="410375"/>
            <a:ext cx="6265200" cy="4926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GB" sz="4000">
                <a:solidFill>
                  <a:srgbClr val="252930"/>
                </a:solidFill>
                <a:latin typeface="Maven Pro"/>
                <a:ea typeface="Maven Pro"/>
                <a:cs typeface="Maven Pro"/>
                <a:sym typeface="Maven Pro"/>
              </a:rPr>
              <a:t>REASONING &amp; INSIGHTS</a:t>
            </a:r>
            <a:endParaRPr sz="700"/>
          </a:p>
        </p:txBody>
      </p:sp>
      <p:sp>
        <p:nvSpPr>
          <p:cNvPr id="194" name="Google Shape;194;p31"/>
          <p:cNvSpPr/>
          <p:nvPr/>
        </p:nvSpPr>
        <p:spPr>
          <a:xfrm flipH="1">
            <a:off x="-105975" y="-52387"/>
            <a:ext cx="2057400" cy="20574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sp>
      <p:sp>
        <p:nvSpPr>
          <p:cNvPr id="195" name="Google Shape;195;p31"/>
          <p:cNvSpPr/>
          <p:nvPr/>
        </p:nvSpPr>
        <p:spPr>
          <a:xfrm>
            <a:off x="8886825"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sp>
      <p:sp>
        <p:nvSpPr>
          <p:cNvPr id="196" name="Google Shape;196;p31"/>
          <p:cNvSpPr/>
          <p:nvPr/>
        </p:nvSpPr>
        <p:spPr>
          <a:xfrm rot="5400000">
            <a:off x="7986245" y="4500095"/>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sp>
      <p:pic>
        <p:nvPicPr>
          <p:cNvPr id="197" name="Google Shape;197;p31"/>
          <p:cNvPicPr preferRelativeResize="0"/>
          <p:nvPr/>
        </p:nvPicPr>
        <p:blipFill>
          <a:blip r:embed="rId6">
            <a:alphaModFix/>
          </a:blip>
          <a:stretch>
            <a:fillRect/>
          </a:stretch>
        </p:blipFill>
        <p:spPr>
          <a:xfrm>
            <a:off x="280988" y="1917513"/>
            <a:ext cx="8582026" cy="21349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01" name="Shape 201"/>
        <p:cNvGrpSpPr/>
        <p:nvPr/>
      </p:nvGrpSpPr>
      <p:grpSpPr>
        <a:xfrm>
          <a:off x="0" y="0"/>
          <a:ext cx="0" cy="0"/>
          <a:chOff x="0" y="0"/>
          <a:chExt cx="0" cy="0"/>
        </a:xfrm>
      </p:grpSpPr>
      <p:sp>
        <p:nvSpPr>
          <p:cNvPr id="202" name="Google Shape;202;p32"/>
          <p:cNvSpPr txBox="1"/>
          <p:nvPr/>
        </p:nvSpPr>
        <p:spPr>
          <a:xfrm>
            <a:off x="1025350" y="393525"/>
            <a:ext cx="4325100" cy="4926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GB" sz="4000">
                <a:solidFill>
                  <a:srgbClr val="252930"/>
                </a:solidFill>
                <a:latin typeface="Maven Pro"/>
                <a:ea typeface="Maven Pro"/>
                <a:cs typeface="Maven Pro"/>
                <a:sym typeface="Maven Pro"/>
              </a:rPr>
              <a:t>Backend Pipeline</a:t>
            </a:r>
            <a:endParaRPr sz="700"/>
          </a:p>
        </p:txBody>
      </p:sp>
      <p:sp>
        <p:nvSpPr>
          <p:cNvPr id="203" name="Google Shape;203;p32"/>
          <p:cNvSpPr/>
          <p:nvPr/>
        </p:nvSpPr>
        <p:spPr>
          <a:xfrm>
            <a:off x="0"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3">
              <a:alphaModFix/>
            </a:blip>
            <a:stretch>
              <a:fillRect b="0" l="0" r="0" t="0"/>
            </a:stretch>
          </a:blipFill>
          <a:ln>
            <a:noFill/>
          </a:ln>
        </p:spPr>
      </p:sp>
      <p:sp>
        <p:nvSpPr>
          <p:cNvPr id="204" name="Google Shape;204;p32"/>
          <p:cNvSpPr/>
          <p:nvPr/>
        </p:nvSpPr>
        <p:spPr>
          <a:xfrm>
            <a:off x="7177088" y="-61912"/>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205" name="Google Shape;205;p32"/>
          <p:cNvSpPr/>
          <p:nvPr/>
        </p:nvSpPr>
        <p:spPr>
          <a:xfrm rot="-5400000">
            <a:off x="899645" y="4500095"/>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sp>
      <p:pic>
        <p:nvPicPr>
          <p:cNvPr id="206" name="Google Shape;206;p32"/>
          <p:cNvPicPr preferRelativeResize="0"/>
          <p:nvPr/>
        </p:nvPicPr>
        <p:blipFill>
          <a:blip r:embed="rId6">
            <a:alphaModFix/>
          </a:blip>
          <a:stretch>
            <a:fillRect/>
          </a:stretch>
        </p:blipFill>
        <p:spPr>
          <a:xfrm>
            <a:off x="1709561" y="886125"/>
            <a:ext cx="4706756" cy="41049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10" name="Shape 210"/>
        <p:cNvGrpSpPr/>
        <p:nvPr/>
      </p:nvGrpSpPr>
      <p:grpSpPr>
        <a:xfrm>
          <a:off x="0" y="0"/>
          <a:ext cx="0" cy="0"/>
          <a:chOff x="0" y="0"/>
          <a:chExt cx="0" cy="0"/>
        </a:xfrm>
      </p:grpSpPr>
      <p:sp>
        <p:nvSpPr>
          <p:cNvPr id="211" name="Google Shape;211;p33"/>
          <p:cNvSpPr txBox="1"/>
          <p:nvPr/>
        </p:nvSpPr>
        <p:spPr>
          <a:xfrm>
            <a:off x="1951425" y="410375"/>
            <a:ext cx="6265200" cy="4926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GB" sz="4000">
                <a:solidFill>
                  <a:srgbClr val="252930"/>
                </a:solidFill>
                <a:latin typeface="Maven Pro"/>
                <a:ea typeface="Maven Pro"/>
                <a:cs typeface="Maven Pro"/>
                <a:sym typeface="Maven Pro"/>
              </a:rPr>
              <a:t>Graph Results</a:t>
            </a:r>
            <a:endParaRPr sz="700"/>
          </a:p>
        </p:txBody>
      </p:sp>
      <p:sp>
        <p:nvSpPr>
          <p:cNvPr id="212" name="Google Shape;212;p33"/>
          <p:cNvSpPr/>
          <p:nvPr/>
        </p:nvSpPr>
        <p:spPr>
          <a:xfrm flipH="1">
            <a:off x="-105975" y="-52387"/>
            <a:ext cx="2057400" cy="20574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sp>
      <p:sp>
        <p:nvSpPr>
          <p:cNvPr id="213" name="Google Shape;213;p33"/>
          <p:cNvSpPr/>
          <p:nvPr/>
        </p:nvSpPr>
        <p:spPr>
          <a:xfrm>
            <a:off x="8886825"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sp>
      <p:sp>
        <p:nvSpPr>
          <p:cNvPr id="214" name="Google Shape;214;p33"/>
          <p:cNvSpPr/>
          <p:nvPr/>
        </p:nvSpPr>
        <p:spPr>
          <a:xfrm rot="5400000">
            <a:off x="7986245" y="4500095"/>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sp>
      <p:pic>
        <p:nvPicPr>
          <p:cNvPr id="215" name="Google Shape;215;p33"/>
          <p:cNvPicPr preferRelativeResize="0"/>
          <p:nvPr/>
        </p:nvPicPr>
        <p:blipFill>
          <a:blip r:embed="rId6">
            <a:alphaModFix/>
          </a:blip>
          <a:stretch>
            <a:fillRect/>
          </a:stretch>
        </p:blipFill>
        <p:spPr>
          <a:xfrm>
            <a:off x="4391829" y="1262200"/>
            <a:ext cx="4357771" cy="3156001"/>
          </a:xfrm>
          <a:prstGeom prst="rect">
            <a:avLst/>
          </a:prstGeom>
          <a:noFill/>
          <a:ln>
            <a:noFill/>
          </a:ln>
        </p:spPr>
      </p:pic>
      <p:pic>
        <p:nvPicPr>
          <p:cNvPr id="216" name="Google Shape;216;p33"/>
          <p:cNvPicPr preferRelativeResize="0"/>
          <p:nvPr/>
        </p:nvPicPr>
        <p:blipFill>
          <a:blip r:embed="rId7">
            <a:alphaModFix/>
          </a:blip>
          <a:stretch>
            <a:fillRect/>
          </a:stretch>
        </p:blipFill>
        <p:spPr>
          <a:xfrm>
            <a:off x="865000" y="1094890"/>
            <a:ext cx="3013514" cy="34905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20" name="Shape 220"/>
        <p:cNvGrpSpPr/>
        <p:nvPr/>
      </p:nvGrpSpPr>
      <p:grpSpPr>
        <a:xfrm>
          <a:off x="0" y="0"/>
          <a:ext cx="0" cy="0"/>
          <a:chOff x="0" y="0"/>
          <a:chExt cx="0" cy="0"/>
        </a:xfrm>
      </p:grpSpPr>
      <p:sp>
        <p:nvSpPr>
          <p:cNvPr id="221" name="Google Shape;221;p34"/>
          <p:cNvSpPr txBox="1"/>
          <p:nvPr/>
        </p:nvSpPr>
        <p:spPr>
          <a:xfrm>
            <a:off x="1025350" y="393525"/>
            <a:ext cx="4557900" cy="4926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GB" sz="4000">
                <a:solidFill>
                  <a:srgbClr val="252930"/>
                </a:solidFill>
                <a:latin typeface="Maven Pro"/>
                <a:ea typeface="Maven Pro"/>
                <a:cs typeface="Maven Pro"/>
                <a:sym typeface="Maven Pro"/>
              </a:rPr>
              <a:t>Reasoning Results</a:t>
            </a:r>
            <a:endParaRPr sz="700"/>
          </a:p>
        </p:txBody>
      </p:sp>
      <p:sp>
        <p:nvSpPr>
          <p:cNvPr id="222" name="Google Shape;222;p34"/>
          <p:cNvSpPr/>
          <p:nvPr/>
        </p:nvSpPr>
        <p:spPr>
          <a:xfrm>
            <a:off x="0"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3">
              <a:alphaModFix/>
            </a:blip>
            <a:stretch>
              <a:fillRect b="0" l="0" r="0" t="0"/>
            </a:stretch>
          </a:blipFill>
          <a:ln>
            <a:noFill/>
          </a:ln>
        </p:spPr>
      </p:sp>
      <p:sp>
        <p:nvSpPr>
          <p:cNvPr id="223" name="Google Shape;223;p34"/>
          <p:cNvSpPr/>
          <p:nvPr/>
        </p:nvSpPr>
        <p:spPr>
          <a:xfrm>
            <a:off x="7177088" y="-61912"/>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224" name="Google Shape;224;p34"/>
          <p:cNvSpPr/>
          <p:nvPr/>
        </p:nvSpPr>
        <p:spPr>
          <a:xfrm rot="-5400000">
            <a:off x="899645" y="4500095"/>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sp>
      <p:pic>
        <p:nvPicPr>
          <p:cNvPr id="225" name="Google Shape;225;p34"/>
          <p:cNvPicPr preferRelativeResize="0"/>
          <p:nvPr/>
        </p:nvPicPr>
        <p:blipFill>
          <a:blip r:embed="rId6">
            <a:alphaModFix/>
          </a:blip>
          <a:stretch>
            <a:fillRect/>
          </a:stretch>
        </p:blipFill>
        <p:spPr>
          <a:xfrm>
            <a:off x="940500" y="909475"/>
            <a:ext cx="3707455" cy="3952575"/>
          </a:xfrm>
          <a:prstGeom prst="rect">
            <a:avLst/>
          </a:prstGeom>
          <a:noFill/>
          <a:ln>
            <a:noFill/>
          </a:ln>
        </p:spPr>
      </p:pic>
      <p:pic>
        <p:nvPicPr>
          <p:cNvPr id="226" name="Google Shape;226;p34"/>
          <p:cNvPicPr preferRelativeResize="0"/>
          <p:nvPr/>
        </p:nvPicPr>
        <p:blipFill>
          <a:blip r:embed="rId7">
            <a:alphaModFix/>
          </a:blip>
          <a:stretch>
            <a:fillRect/>
          </a:stretch>
        </p:blipFill>
        <p:spPr>
          <a:xfrm>
            <a:off x="4932475" y="909475"/>
            <a:ext cx="3880499" cy="4168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30" name="Shape 230"/>
        <p:cNvGrpSpPr/>
        <p:nvPr/>
      </p:nvGrpSpPr>
      <p:grpSpPr>
        <a:xfrm>
          <a:off x="0" y="0"/>
          <a:ext cx="0" cy="0"/>
          <a:chOff x="0" y="0"/>
          <a:chExt cx="0" cy="0"/>
        </a:xfrm>
      </p:grpSpPr>
      <p:sp>
        <p:nvSpPr>
          <p:cNvPr id="231" name="Google Shape;231;p35"/>
          <p:cNvSpPr/>
          <p:nvPr/>
        </p:nvSpPr>
        <p:spPr>
          <a:xfrm flipH="1">
            <a:off x="-105975" y="-52387"/>
            <a:ext cx="2057400" cy="20574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sp>
      <p:sp>
        <p:nvSpPr>
          <p:cNvPr id="232" name="Google Shape;232;p35"/>
          <p:cNvSpPr/>
          <p:nvPr/>
        </p:nvSpPr>
        <p:spPr>
          <a:xfrm>
            <a:off x="8886825"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sp>
      <p:sp>
        <p:nvSpPr>
          <p:cNvPr id="233" name="Google Shape;233;p35"/>
          <p:cNvSpPr/>
          <p:nvPr/>
        </p:nvSpPr>
        <p:spPr>
          <a:xfrm>
            <a:off x="7271491" y="4538654"/>
            <a:ext cx="1358159" cy="67907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sp>
      <p:sp>
        <p:nvSpPr>
          <p:cNvPr id="234" name="Google Shape;234;p35"/>
          <p:cNvSpPr txBox="1"/>
          <p:nvPr/>
        </p:nvSpPr>
        <p:spPr>
          <a:xfrm>
            <a:off x="1547475" y="393525"/>
            <a:ext cx="4557900" cy="4926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b="1" lang="en-GB" sz="4000">
                <a:solidFill>
                  <a:srgbClr val="252930"/>
                </a:solidFill>
                <a:latin typeface="Maven Pro"/>
                <a:ea typeface="Maven Pro"/>
                <a:cs typeface="Maven Pro"/>
                <a:sym typeface="Maven Pro"/>
              </a:rPr>
              <a:t>Reasoning Results</a:t>
            </a:r>
            <a:endParaRPr sz="700"/>
          </a:p>
        </p:txBody>
      </p:sp>
      <p:pic>
        <p:nvPicPr>
          <p:cNvPr id="235" name="Google Shape;235;p35"/>
          <p:cNvPicPr preferRelativeResize="0"/>
          <p:nvPr/>
        </p:nvPicPr>
        <p:blipFill>
          <a:blip r:embed="rId6">
            <a:alphaModFix/>
          </a:blip>
          <a:stretch>
            <a:fillRect/>
          </a:stretch>
        </p:blipFill>
        <p:spPr>
          <a:xfrm>
            <a:off x="4611526" y="1078750"/>
            <a:ext cx="4207576" cy="3858026"/>
          </a:xfrm>
          <a:prstGeom prst="rect">
            <a:avLst/>
          </a:prstGeom>
          <a:noFill/>
          <a:ln>
            <a:noFill/>
          </a:ln>
        </p:spPr>
      </p:pic>
      <p:pic>
        <p:nvPicPr>
          <p:cNvPr id="236" name="Google Shape;236;p35"/>
          <p:cNvPicPr preferRelativeResize="0"/>
          <p:nvPr/>
        </p:nvPicPr>
        <p:blipFill>
          <a:blip r:embed="rId7">
            <a:alphaModFix/>
          </a:blip>
          <a:stretch>
            <a:fillRect/>
          </a:stretch>
        </p:blipFill>
        <p:spPr>
          <a:xfrm>
            <a:off x="110050" y="1487425"/>
            <a:ext cx="4433725" cy="26273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40" name="Shape 240"/>
        <p:cNvGrpSpPr/>
        <p:nvPr/>
      </p:nvGrpSpPr>
      <p:grpSpPr>
        <a:xfrm>
          <a:off x="0" y="0"/>
          <a:ext cx="0" cy="0"/>
          <a:chOff x="0" y="0"/>
          <a:chExt cx="0" cy="0"/>
        </a:xfrm>
      </p:grpSpPr>
      <p:sp>
        <p:nvSpPr>
          <p:cNvPr id="241" name="Google Shape;241;p36"/>
          <p:cNvSpPr/>
          <p:nvPr/>
        </p:nvSpPr>
        <p:spPr>
          <a:xfrm>
            <a:off x="0" y="4114800"/>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3">
              <a:alphaModFix/>
            </a:blip>
            <a:stretch>
              <a:fillRect b="0" l="0" r="0" t="0"/>
            </a:stretch>
          </a:blipFill>
          <a:ln>
            <a:noFill/>
          </a:ln>
        </p:spPr>
      </p:sp>
      <p:sp>
        <p:nvSpPr>
          <p:cNvPr id="242" name="Google Shape;242;p36"/>
          <p:cNvSpPr/>
          <p:nvPr/>
        </p:nvSpPr>
        <p:spPr>
          <a:xfrm>
            <a:off x="7177088" y="-61912"/>
            <a:ext cx="2057400" cy="20574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243" name="Google Shape;243;p36"/>
          <p:cNvSpPr/>
          <p:nvPr/>
        </p:nvSpPr>
        <p:spPr>
          <a:xfrm rot="-5400000">
            <a:off x="899645" y="4500095"/>
            <a:ext cx="258110" cy="10287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sp>
      <p:grpSp>
        <p:nvGrpSpPr>
          <p:cNvPr id="244" name="Google Shape;244;p36"/>
          <p:cNvGrpSpPr/>
          <p:nvPr/>
        </p:nvGrpSpPr>
        <p:grpSpPr>
          <a:xfrm>
            <a:off x="514350" y="1743784"/>
            <a:ext cx="3900312" cy="2370971"/>
            <a:chOff x="0" y="-38100"/>
            <a:chExt cx="2054526" cy="1248931"/>
          </a:xfrm>
        </p:grpSpPr>
        <p:sp>
          <p:nvSpPr>
            <p:cNvPr id="245" name="Google Shape;245;p36"/>
            <p:cNvSpPr/>
            <p:nvPr/>
          </p:nvSpPr>
          <p:spPr>
            <a:xfrm>
              <a:off x="0" y="0"/>
              <a:ext cx="2054526" cy="1210831"/>
            </a:xfrm>
            <a:custGeom>
              <a:rect b="b" l="l" r="r" t="t"/>
              <a:pathLst>
                <a:path extrusionOk="0" h="1210831" w="2054526">
                  <a:moveTo>
                    <a:pt x="50615" y="0"/>
                  </a:moveTo>
                  <a:lnTo>
                    <a:pt x="2003911" y="0"/>
                  </a:lnTo>
                  <a:cubicBezTo>
                    <a:pt x="2017335" y="0"/>
                    <a:pt x="2030209" y="5333"/>
                    <a:pt x="2039701" y="14825"/>
                  </a:cubicBezTo>
                  <a:cubicBezTo>
                    <a:pt x="2049194" y="24317"/>
                    <a:pt x="2054526" y="37191"/>
                    <a:pt x="2054526" y="50615"/>
                  </a:cubicBezTo>
                  <a:lnTo>
                    <a:pt x="2054526" y="1160216"/>
                  </a:lnTo>
                  <a:cubicBezTo>
                    <a:pt x="2054526" y="1173640"/>
                    <a:pt x="2049194" y="1186514"/>
                    <a:pt x="2039701" y="1196006"/>
                  </a:cubicBezTo>
                  <a:cubicBezTo>
                    <a:pt x="2030209" y="1205499"/>
                    <a:pt x="2017335" y="1210831"/>
                    <a:pt x="2003911" y="1210831"/>
                  </a:cubicBezTo>
                  <a:lnTo>
                    <a:pt x="50615" y="1210831"/>
                  </a:lnTo>
                  <a:cubicBezTo>
                    <a:pt x="22661" y="1210831"/>
                    <a:pt x="0" y="1188170"/>
                    <a:pt x="0" y="1160216"/>
                  </a:cubicBezTo>
                  <a:lnTo>
                    <a:pt x="0" y="50615"/>
                  </a:lnTo>
                  <a:cubicBezTo>
                    <a:pt x="0" y="22661"/>
                    <a:pt x="22661" y="0"/>
                    <a:pt x="50615" y="0"/>
                  </a:cubicBezTo>
                  <a:close/>
                </a:path>
              </a:pathLst>
            </a:custGeom>
            <a:solidFill>
              <a:srgbClr val="C0B3A0">
                <a:alpha val="5333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6" name="Google Shape;246;p36"/>
            <p:cNvSpPr txBox="1"/>
            <p:nvPr/>
          </p:nvSpPr>
          <p:spPr>
            <a:xfrm>
              <a:off x="0" y="-38100"/>
              <a:ext cx="2054400" cy="12489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47" name="Google Shape;247;p36"/>
          <p:cNvSpPr txBox="1"/>
          <p:nvPr/>
        </p:nvSpPr>
        <p:spPr>
          <a:xfrm>
            <a:off x="514350" y="2020078"/>
            <a:ext cx="3682800" cy="1422000"/>
          </a:xfrm>
          <a:prstGeom prst="rect">
            <a:avLst/>
          </a:prstGeom>
          <a:noFill/>
          <a:ln>
            <a:noFill/>
          </a:ln>
        </p:spPr>
        <p:txBody>
          <a:bodyPr anchorCtr="0" anchor="t" bIns="0" lIns="0" spcFirstLastPara="1" rIns="0" wrap="square" tIns="0">
            <a:spAutoFit/>
          </a:bodyPr>
          <a:lstStyle/>
          <a:p>
            <a:pPr indent="-152400" lvl="1" marL="304800" marR="0" rtl="0" algn="just">
              <a:lnSpc>
                <a:spcPct val="139964"/>
              </a:lnSpc>
              <a:spcBef>
                <a:spcPts val="0"/>
              </a:spcBef>
              <a:spcAft>
                <a:spcPts val="0"/>
              </a:spcAft>
              <a:buClr>
                <a:srgbClr val="252D37"/>
              </a:buClr>
              <a:buSzPts val="1400"/>
              <a:buChar char="•"/>
            </a:pPr>
            <a:r>
              <a:rPr b="1" lang="en-GB">
                <a:solidFill>
                  <a:srgbClr val="252D37"/>
                </a:solidFill>
                <a:latin typeface="Maven Pro"/>
                <a:ea typeface="Maven Pro"/>
                <a:cs typeface="Maven Pro"/>
                <a:sym typeface="Maven Pro"/>
              </a:rPr>
              <a:t>Latency Issues: </a:t>
            </a:r>
            <a:r>
              <a:rPr lang="en-GB">
                <a:solidFill>
                  <a:srgbClr val="252D37"/>
                </a:solidFill>
                <a:latin typeface="Maven Pro"/>
                <a:ea typeface="Maven Pro"/>
                <a:cs typeface="Maven Pro"/>
                <a:sym typeface="Maven Pro"/>
              </a:rPr>
              <a:t>As of now, the Ingestion and Entity extraction pipeline takes upto 5 minutes for a 25 page dense document. This is likely due to API calls, even with batching we still see these issues.</a:t>
            </a:r>
            <a:endParaRPr sz="700">
              <a:latin typeface="Maven Pro"/>
              <a:ea typeface="Maven Pro"/>
              <a:cs typeface="Maven Pro"/>
              <a:sym typeface="Maven Pro"/>
            </a:endParaRPr>
          </a:p>
        </p:txBody>
      </p:sp>
      <p:sp>
        <p:nvSpPr>
          <p:cNvPr id="248" name="Google Shape;248;p36"/>
          <p:cNvSpPr txBox="1"/>
          <p:nvPr/>
        </p:nvSpPr>
        <p:spPr>
          <a:xfrm>
            <a:off x="2572846" y="949561"/>
            <a:ext cx="4432500" cy="504900"/>
          </a:xfrm>
          <a:prstGeom prst="rect">
            <a:avLst/>
          </a:prstGeom>
          <a:noFill/>
          <a:ln>
            <a:noFill/>
          </a:ln>
        </p:spPr>
        <p:txBody>
          <a:bodyPr anchorCtr="0" anchor="t" bIns="0" lIns="0" spcFirstLastPara="1" rIns="0" wrap="square" tIns="0">
            <a:spAutoFit/>
          </a:bodyPr>
          <a:lstStyle/>
          <a:p>
            <a:pPr indent="0" lvl="0" marL="0" marR="0" rtl="0" algn="ctr">
              <a:lnSpc>
                <a:spcPct val="80002"/>
              </a:lnSpc>
              <a:spcBef>
                <a:spcPts val="0"/>
              </a:spcBef>
              <a:spcAft>
                <a:spcPts val="0"/>
              </a:spcAft>
              <a:buNone/>
            </a:pPr>
            <a:r>
              <a:rPr b="1" lang="en-GB" sz="4100">
                <a:solidFill>
                  <a:srgbClr val="252D37"/>
                </a:solidFill>
                <a:latin typeface="Maven Pro"/>
                <a:ea typeface="Maven Pro"/>
                <a:cs typeface="Maven Pro"/>
                <a:sym typeface="Maven Pro"/>
              </a:rPr>
              <a:t>FUTURE WORK</a:t>
            </a:r>
            <a:endParaRPr sz="700"/>
          </a:p>
        </p:txBody>
      </p:sp>
      <p:grpSp>
        <p:nvGrpSpPr>
          <p:cNvPr id="249" name="Google Shape;249;p36"/>
          <p:cNvGrpSpPr/>
          <p:nvPr/>
        </p:nvGrpSpPr>
        <p:grpSpPr>
          <a:xfrm>
            <a:off x="4729260" y="1743784"/>
            <a:ext cx="3900312" cy="2370971"/>
            <a:chOff x="0" y="-38100"/>
            <a:chExt cx="2054526" cy="1248931"/>
          </a:xfrm>
        </p:grpSpPr>
        <p:sp>
          <p:nvSpPr>
            <p:cNvPr id="250" name="Google Shape;250;p36"/>
            <p:cNvSpPr/>
            <p:nvPr/>
          </p:nvSpPr>
          <p:spPr>
            <a:xfrm>
              <a:off x="0" y="0"/>
              <a:ext cx="2054526" cy="1210831"/>
            </a:xfrm>
            <a:custGeom>
              <a:rect b="b" l="l" r="r" t="t"/>
              <a:pathLst>
                <a:path extrusionOk="0" h="1210831" w="2054526">
                  <a:moveTo>
                    <a:pt x="50615" y="0"/>
                  </a:moveTo>
                  <a:lnTo>
                    <a:pt x="2003911" y="0"/>
                  </a:lnTo>
                  <a:cubicBezTo>
                    <a:pt x="2017335" y="0"/>
                    <a:pt x="2030209" y="5333"/>
                    <a:pt x="2039701" y="14825"/>
                  </a:cubicBezTo>
                  <a:cubicBezTo>
                    <a:pt x="2049194" y="24317"/>
                    <a:pt x="2054526" y="37191"/>
                    <a:pt x="2054526" y="50615"/>
                  </a:cubicBezTo>
                  <a:lnTo>
                    <a:pt x="2054526" y="1160216"/>
                  </a:lnTo>
                  <a:cubicBezTo>
                    <a:pt x="2054526" y="1173640"/>
                    <a:pt x="2049194" y="1186514"/>
                    <a:pt x="2039701" y="1196006"/>
                  </a:cubicBezTo>
                  <a:cubicBezTo>
                    <a:pt x="2030209" y="1205499"/>
                    <a:pt x="2017335" y="1210831"/>
                    <a:pt x="2003911" y="1210831"/>
                  </a:cubicBezTo>
                  <a:lnTo>
                    <a:pt x="50615" y="1210831"/>
                  </a:lnTo>
                  <a:cubicBezTo>
                    <a:pt x="22661" y="1210831"/>
                    <a:pt x="0" y="1188170"/>
                    <a:pt x="0" y="1160216"/>
                  </a:cubicBezTo>
                  <a:lnTo>
                    <a:pt x="0" y="50615"/>
                  </a:lnTo>
                  <a:cubicBezTo>
                    <a:pt x="0" y="22661"/>
                    <a:pt x="22661" y="0"/>
                    <a:pt x="50615" y="0"/>
                  </a:cubicBezTo>
                  <a:close/>
                </a:path>
              </a:pathLst>
            </a:custGeom>
            <a:solidFill>
              <a:srgbClr val="C0B3A0">
                <a:alpha val="5333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51" name="Google Shape;251;p36"/>
            <p:cNvSpPr txBox="1"/>
            <p:nvPr/>
          </p:nvSpPr>
          <p:spPr>
            <a:xfrm>
              <a:off x="0" y="-38100"/>
              <a:ext cx="2054400" cy="12489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2" name="Google Shape;252;p36"/>
          <p:cNvSpPr txBox="1"/>
          <p:nvPr/>
        </p:nvSpPr>
        <p:spPr>
          <a:xfrm>
            <a:off x="4901073" y="1977952"/>
            <a:ext cx="3556800" cy="2025600"/>
          </a:xfrm>
          <a:prstGeom prst="rect">
            <a:avLst/>
          </a:prstGeom>
          <a:noFill/>
          <a:ln>
            <a:noFill/>
          </a:ln>
        </p:spPr>
        <p:txBody>
          <a:bodyPr anchorCtr="0" anchor="t" bIns="0" lIns="0" spcFirstLastPara="1" rIns="0" wrap="square" tIns="0">
            <a:spAutoFit/>
          </a:bodyPr>
          <a:lstStyle/>
          <a:p>
            <a:pPr indent="-152400" lvl="1" marL="292100" marR="0" rtl="0" algn="just">
              <a:lnSpc>
                <a:spcPct val="140007"/>
              </a:lnSpc>
              <a:spcBef>
                <a:spcPts val="0"/>
              </a:spcBef>
              <a:spcAft>
                <a:spcPts val="0"/>
              </a:spcAft>
              <a:buClr>
                <a:srgbClr val="252D37"/>
              </a:buClr>
              <a:buSzPts val="1400"/>
              <a:buChar char="•"/>
            </a:pPr>
            <a:r>
              <a:rPr b="1" lang="en-GB">
                <a:solidFill>
                  <a:srgbClr val="252D37"/>
                </a:solidFill>
                <a:latin typeface="Maven Pro"/>
                <a:ea typeface="Maven Pro"/>
                <a:cs typeface="Maven Pro"/>
                <a:sym typeface="Maven Pro"/>
              </a:rPr>
              <a:t>Vector DB: </a:t>
            </a:r>
            <a:r>
              <a:rPr lang="en-GB">
                <a:solidFill>
                  <a:srgbClr val="252D37"/>
                </a:solidFill>
                <a:latin typeface="Maven Pro"/>
                <a:ea typeface="Maven Pro"/>
                <a:cs typeface="Maven Pro"/>
                <a:sym typeface="Maven Pro"/>
              </a:rPr>
              <a:t>We have used FAISS for this project. However, if we want to make the project production ready or even scale to include multiple users, then we would need way to much effort with FAISS. A better option would be to switch to Qdrant.</a:t>
            </a:r>
            <a:endParaRPr sz="700">
              <a:latin typeface="Maven Pro"/>
              <a:ea typeface="Maven Pro"/>
              <a:cs typeface="Maven Pro"/>
              <a:sym typeface="Maven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56" name="Shape 256"/>
        <p:cNvGrpSpPr/>
        <p:nvPr/>
      </p:nvGrpSpPr>
      <p:grpSpPr>
        <a:xfrm>
          <a:off x="0" y="0"/>
          <a:ext cx="0" cy="0"/>
          <a:chOff x="0" y="0"/>
          <a:chExt cx="0" cy="0"/>
        </a:xfrm>
      </p:grpSpPr>
      <p:sp>
        <p:nvSpPr>
          <p:cNvPr id="257" name="Google Shape;257;p37"/>
          <p:cNvSpPr txBox="1"/>
          <p:nvPr/>
        </p:nvSpPr>
        <p:spPr>
          <a:xfrm>
            <a:off x="1377075" y="1916361"/>
            <a:ext cx="6389849" cy="895707"/>
          </a:xfrm>
          <a:prstGeom prst="rect">
            <a:avLst/>
          </a:prstGeom>
          <a:noFill/>
          <a:ln>
            <a:noFill/>
          </a:ln>
        </p:spPr>
        <p:txBody>
          <a:bodyPr anchorCtr="0" anchor="t" bIns="0" lIns="0" spcFirstLastPara="1" rIns="0" wrap="square" tIns="0">
            <a:spAutoFit/>
          </a:bodyPr>
          <a:lstStyle/>
          <a:p>
            <a:pPr indent="0" lvl="0" marL="0" marR="0" rtl="0" algn="ctr">
              <a:lnSpc>
                <a:spcPct val="79998"/>
              </a:lnSpc>
              <a:spcBef>
                <a:spcPts val="0"/>
              </a:spcBef>
              <a:spcAft>
                <a:spcPts val="0"/>
              </a:spcAft>
              <a:buNone/>
            </a:pPr>
            <a:r>
              <a:rPr b="1" i="0" lang="en-GB" sz="7800" u="none" cap="none" strike="noStrike">
                <a:solidFill>
                  <a:srgbClr val="252D37"/>
                </a:solidFill>
                <a:latin typeface="Maven Pro"/>
                <a:ea typeface="Maven Pro"/>
                <a:cs typeface="Maven Pro"/>
                <a:sym typeface="Maven Pro"/>
              </a:rPr>
              <a:t>Thank You</a:t>
            </a:r>
            <a:endParaRPr sz="700"/>
          </a:p>
        </p:txBody>
      </p:sp>
      <p:sp>
        <p:nvSpPr>
          <p:cNvPr id="258" name="Google Shape;258;p37"/>
          <p:cNvSpPr txBox="1"/>
          <p:nvPr/>
        </p:nvSpPr>
        <p:spPr>
          <a:xfrm>
            <a:off x="2121970" y="2977879"/>
            <a:ext cx="4900060" cy="39511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GB" sz="3000" u="none" cap="none" strike="noStrike">
                <a:solidFill>
                  <a:srgbClr val="252D37"/>
                </a:solidFill>
                <a:latin typeface="Maven Pro"/>
                <a:ea typeface="Maven Pro"/>
                <a:cs typeface="Maven Pro"/>
                <a:sym typeface="Maven Pro"/>
              </a:rPr>
              <a:t>For your attention</a:t>
            </a:r>
            <a:endParaRPr sz="700"/>
          </a:p>
        </p:txBody>
      </p:sp>
      <p:sp>
        <p:nvSpPr>
          <p:cNvPr id="259" name="Google Shape;259;p37"/>
          <p:cNvSpPr/>
          <p:nvPr/>
        </p:nvSpPr>
        <p:spPr>
          <a:xfrm>
            <a:off x="0" y="3487296"/>
            <a:ext cx="404960" cy="1613969"/>
          </a:xfrm>
          <a:custGeom>
            <a:rect b="b" l="l" r="r" t="t"/>
            <a:pathLst>
              <a:path extrusionOk="0" h="3227938" w="809919">
                <a:moveTo>
                  <a:pt x="0" y="0"/>
                </a:moveTo>
                <a:lnTo>
                  <a:pt x="809919" y="0"/>
                </a:lnTo>
                <a:lnTo>
                  <a:pt x="809919" y="3227938"/>
                </a:lnTo>
                <a:lnTo>
                  <a:pt x="0" y="3227938"/>
                </a:lnTo>
                <a:lnTo>
                  <a:pt x="0" y="0"/>
                </a:lnTo>
                <a:close/>
              </a:path>
            </a:pathLst>
          </a:custGeom>
          <a:blipFill rotWithShape="1">
            <a:blip r:embed="rId3">
              <a:alphaModFix/>
            </a:blip>
            <a:stretch>
              <a:fillRect b="0" l="0" r="0" t="0"/>
            </a:stretch>
          </a:blipFill>
          <a:ln>
            <a:noFill/>
          </a:ln>
        </p:spPr>
      </p:sp>
      <p:sp>
        <p:nvSpPr>
          <p:cNvPr id="260" name="Google Shape;260;p37"/>
          <p:cNvSpPr/>
          <p:nvPr/>
        </p:nvSpPr>
        <p:spPr>
          <a:xfrm>
            <a:off x="806984" y="4152299"/>
            <a:ext cx="2130870" cy="1065435"/>
          </a:xfrm>
          <a:custGeom>
            <a:rect b="b" l="l" r="r" t="t"/>
            <a:pathLst>
              <a:path extrusionOk="0" h="2130870" w="4261740">
                <a:moveTo>
                  <a:pt x="0" y="0"/>
                </a:moveTo>
                <a:lnTo>
                  <a:pt x="4261740" y="0"/>
                </a:lnTo>
                <a:lnTo>
                  <a:pt x="4261740" y="2130870"/>
                </a:lnTo>
                <a:lnTo>
                  <a:pt x="0" y="2130870"/>
                </a:lnTo>
                <a:lnTo>
                  <a:pt x="0" y="0"/>
                </a:lnTo>
                <a:close/>
              </a:path>
            </a:pathLst>
          </a:custGeom>
          <a:blipFill rotWithShape="1">
            <a:blip r:embed="rId4">
              <a:alphaModFix/>
            </a:blip>
            <a:stretch>
              <a:fillRect b="0" l="0" r="0" t="0"/>
            </a:stretch>
          </a:blipFill>
          <a:ln>
            <a:noFill/>
          </a:ln>
        </p:spPr>
      </p:sp>
      <p:sp>
        <p:nvSpPr>
          <p:cNvPr id="261" name="Google Shape;261;p37"/>
          <p:cNvSpPr/>
          <p:nvPr/>
        </p:nvSpPr>
        <p:spPr>
          <a:xfrm rot="10800000">
            <a:off x="8791428" y="59318"/>
            <a:ext cx="404960" cy="1613969"/>
          </a:xfrm>
          <a:custGeom>
            <a:rect b="b" l="l" r="r" t="t"/>
            <a:pathLst>
              <a:path extrusionOk="0" h="3227938" w="809919">
                <a:moveTo>
                  <a:pt x="0" y="0"/>
                </a:moveTo>
                <a:lnTo>
                  <a:pt x="809919" y="0"/>
                </a:lnTo>
                <a:lnTo>
                  <a:pt x="809919" y="3227938"/>
                </a:lnTo>
                <a:lnTo>
                  <a:pt x="0" y="3227938"/>
                </a:lnTo>
                <a:lnTo>
                  <a:pt x="0" y="0"/>
                </a:lnTo>
                <a:close/>
              </a:path>
            </a:pathLst>
          </a:custGeom>
          <a:blipFill rotWithShape="1">
            <a:blip r:embed="rId3">
              <a:alphaModFix/>
            </a:blip>
            <a:stretch>
              <a:fillRect b="0" l="0" r="0" t="0"/>
            </a:stretch>
          </a:blipFill>
          <a:ln>
            <a:noFill/>
          </a:ln>
        </p:spPr>
      </p:sp>
      <p:sp>
        <p:nvSpPr>
          <p:cNvPr id="262" name="Google Shape;262;p37"/>
          <p:cNvSpPr/>
          <p:nvPr/>
        </p:nvSpPr>
        <p:spPr>
          <a:xfrm rot="10800000">
            <a:off x="6258533" y="-57150"/>
            <a:ext cx="2130870" cy="1065435"/>
          </a:xfrm>
          <a:custGeom>
            <a:rect b="b" l="l" r="r" t="t"/>
            <a:pathLst>
              <a:path extrusionOk="0" h="2130870" w="4261740">
                <a:moveTo>
                  <a:pt x="0" y="0"/>
                </a:moveTo>
                <a:lnTo>
                  <a:pt x="4261740" y="0"/>
                </a:lnTo>
                <a:lnTo>
                  <a:pt x="4261740" y="2130870"/>
                </a:lnTo>
                <a:lnTo>
                  <a:pt x="0" y="2130870"/>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